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Libre Baskerville" panose="020B0604020202020204" charset="0"/>
      <p:regular r:id="rId21"/>
    </p:embeddedFont>
    <p:embeddedFont>
      <p:font typeface="Open Sans" panose="020B0606030504020204" pitchFamily="34" charset="0"/>
      <p:regular r:id="rId22"/>
      <p:bold r:id="rId2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120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3088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AE8F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10626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464543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АИС </a:t>
            </a:r>
            <a:r>
              <a:rPr lang="ru-RU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учёта абитуриентов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2563118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Веб-приложение для Ижевского государственного университета: автоматизация подачи документов, обработки заявлений и личных кабинетов участников образовательного процесса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96119" y="3407792"/>
            <a:ext cx="1214363" cy="266402"/>
          </a:xfrm>
          <a:prstGeom prst="roundRect">
            <a:avLst>
              <a:gd name="adj" fmla="val 6386"/>
            </a:avLst>
          </a:prstGeom>
          <a:solidFill>
            <a:srgbClr val="D7D6F5"/>
          </a:solidFill>
          <a:ln/>
        </p:spPr>
      </p:sp>
      <p:sp>
        <p:nvSpPr>
          <p:cNvPr id="7" name="Text 4"/>
          <p:cNvSpPr/>
          <p:nvPr/>
        </p:nvSpPr>
        <p:spPr>
          <a:xfrm>
            <a:off x="581174" y="3450282"/>
            <a:ext cx="150145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КУРСОВАЯ РАБОТА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781324" y="3403029"/>
            <a:ext cx="1495351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403C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71142" y="3450282"/>
            <a:ext cx="177291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 · FLASK · SQLITE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5466"/>
            <a:ext cx="620003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Введение: зачем нужна система?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988" y="1312813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Проблема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474988" y="1676028"/>
            <a:ext cx="517758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Традиционная подача документов требует личного присутствия — значительные затраты времени, особенно для иногородних абитуриентов.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474988" y="249822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Решение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474988" y="2861444"/>
            <a:ext cx="517758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Единая веб-платформа с ролевым доступом для абитуриентов, студентов, преподавателей, сотрудников, ректора и администраторов. Полный перевод документооборота в электронный формат.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474988" y="368364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Результат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474988" y="4046860"/>
            <a:ext cx="517758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Прозрачность приёмной кампании, централизованное хранение данных, сокращение времени обработки документов.</a:t>
            </a:r>
            <a:endParaRPr lang="en-US" sz="110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482A55D-4FC5-4F22-9741-97AC2E64350F}"/>
              </a:ext>
            </a:extLst>
          </p:cNvPr>
          <p:cNvSpPr/>
          <p:nvPr/>
        </p:nvSpPr>
        <p:spPr>
          <a:xfrm>
            <a:off x="8035962" y="4659549"/>
            <a:ext cx="1108038" cy="453628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AE8F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6" y="104552"/>
            <a:ext cx="3289548" cy="49343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17379" y="387921"/>
            <a:ext cx="4738241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Глава 1. Теоретические основы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3917379" y="1466106"/>
            <a:ext cx="2300436" cy="2129656"/>
          </a:xfrm>
          <a:prstGeom prst="roundRect">
            <a:avLst>
              <a:gd name="adj" fmla="val 983"/>
            </a:avLst>
          </a:prstGeom>
          <a:solidFill>
            <a:srgbClr val="EAE8F3"/>
          </a:solidFill>
          <a:ln/>
        </p:spPr>
      </p:sp>
      <p:sp>
        <p:nvSpPr>
          <p:cNvPr id="6" name="Text 3"/>
          <p:cNvSpPr/>
          <p:nvPr/>
        </p:nvSpPr>
        <p:spPr>
          <a:xfrm>
            <a:off x="4056906" y="1605632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АИС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56906" y="1906042"/>
            <a:ext cx="2021384" cy="1550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Человеко-машинная система: программные, технические, информационные и правовые компоненты для автоматизации процессов и поддержки решений.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355184" y="1466106"/>
            <a:ext cx="2300436" cy="2129656"/>
          </a:xfrm>
          <a:prstGeom prst="roundRect">
            <a:avLst>
              <a:gd name="adj" fmla="val 983"/>
            </a:avLst>
          </a:prstGeom>
          <a:solidFill>
            <a:srgbClr val="EAE8F3"/>
          </a:solidFill>
          <a:ln/>
        </p:spPr>
      </p:sp>
      <p:sp>
        <p:nvSpPr>
          <p:cNvPr id="9" name="Text 6"/>
          <p:cNvSpPr/>
          <p:nvPr/>
        </p:nvSpPr>
        <p:spPr>
          <a:xfrm>
            <a:off x="6494711" y="1605632"/>
            <a:ext cx="178794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Жизненный цикл ПО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94711" y="1906042"/>
            <a:ext cx="2021384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Каскадная, итеративная и спиральная модели. В проекте — эволюционное прототипирование: каскад для v1, итерации для v2.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917379" y="3733130"/>
            <a:ext cx="4738241" cy="1022375"/>
          </a:xfrm>
          <a:prstGeom prst="roundRect">
            <a:avLst>
              <a:gd name="adj" fmla="val 2047"/>
            </a:avLst>
          </a:prstGeom>
          <a:solidFill>
            <a:srgbClr val="EAE8F3"/>
          </a:solidFill>
          <a:ln/>
        </p:spPr>
      </p:sp>
      <p:sp>
        <p:nvSpPr>
          <p:cNvPr id="12" name="Text 9"/>
          <p:cNvSpPr/>
          <p:nvPr/>
        </p:nvSpPr>
        <p:spPr>
          <a:xfrm>
            <a:off x="4056906" y="3872657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Веб-приложения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056906" y="4173066"/>
            <a:ext cx="445918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Клиент-серверная архитектура, безопасность, кроссплатформенность, частые обновления без переустановки.</a:t>
            </a:r>
            <a:endParaRPr lang="en-US" sz="105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FCF138E-CF27-4C28-B50D-080676DEBB13}"/>
              </a:ext>
            </a:extLst>
          </p:cNvPr>
          <p:cNvSpPr/>
          <p:nvPr/>
        </p:nvSpPr>
        <p:spPr>
          <a:xfrm>
            <a:off x="7962075" y="4829100"/>
            <a:ext cx="1108038" cy="314399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0" y="389632"/>
            <a:ext cx="6168851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Сопровождение ПО: классификация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49610" y="1023938"/>
            <a:ext cx="869439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Согласно </a:t>
            </a:r>
            <a:r>
              <a:rPr lang="en-US" sz="1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ISO/IEC 14764</a:t>
            </a: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сопровождение делится на четыре категории: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610" y="1350838"/>
            <a:ext cx="4064198" cy="13211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2336" y="1866900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Корректирующее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92336" y="2137395"/>
            <a:ext cx="377874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Устранение ошибок, не выявленных при тестировании.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0192" y="1350838"/>
            <a:ext cx="4064198" cy="13211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72918" y="1866900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Адаптивное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772918" y="2137395"/>
            <a:ext cx="3778746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Модификация под изменившееся окружение: аппаратное, программное, правовое.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" y="2788369"/>
            <a:ext cx="4064198" cy="13211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92336" y="3304431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Совершенствующее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592336" y="3574926"/>
            <a:ext cx="3778746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Добавление новой функциональности, улучшение характеристик.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0192" y="2788369"/>
            <a:ext cx="4064198" cy="13211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772918" y="3304431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Профилактическое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4772918" y="3574926"/>
            <a:ext cx="3778746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Рефакторинг кода, улучшение сопровождаемости, документирование.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449610" y="4240485"/>
            <a:ext cx="8244780" cy="513383"/>
          </a:xfrm>
          <a:prstGeom prst="roundRect">
            <a:avLst>
              <a:gd name="adj" fmla="val 3754"/>
            </a:avLst>
          </a:prstGeom>
          <a:solidFill>
            <a:srgbClr val="B6D6FC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048" y="4436194"/>
            <a:ext cx="160586" cy="12843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67073" y="4388941"/>
            <a:ext cx="815607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Процесс сопровождения: приём запроса → оценка → разработка → приёмка → обучение пользователей.</a:t>
            </a:r>
            <a:endParaRPr lang="en-US" sz="100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2A6CC96-6D1F-4039-9927-6B733875D30F}"/>
              </a:ext>
            </a:extLst>
          </p:cNvPr>
          <p:cNvSpPr/>
          <p:nvPr/>
        </p:nvSpPr>
        <p:spPr>
          <a:xfrm>
            <a:off x="7962075" y="4829100"/>
            <a:ext cx="1108038" cy="314399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5968380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Глава 2. Архитектура и стек технологий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14503" y="1918320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Стек технологий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4714503" y="2184797"/>
            <a:ext cx="3759622" cy="1131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 3.9+</a:t>
            </a: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язык программирования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Flask 2.x</a:t>
            </a: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микрофреймворк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SQLite + SQLAlchemy</a:t>
            </a: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БД и ORM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Werkzeug</a:t>
            </a: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хэширование паролей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HTML5 / CSS3 / JS</a:t>
            </a: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фронтенд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/ GitHub</a:t>
            </a: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контроль версий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4714503" y="3397374"/>
            <a:ext cx="3759622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первом запуске создаются начальные данные: 8 факультетов, 5 специальностей, пользователи с разными ролями, 7 FAQ.</a:t>
            </a:r>
            <a:endParaRPr lang="en-US" sz="85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A060C93-5597-4733-9B11-4A976C757268}"/>
              </a:ext>
            </a:extLst>
          </p:cNvPr>
          <p:cNvSpPr/>
          <p:nvPr/>
        </p:nvSpPr>
        <p:spPr>
          <a:xfrm>
            <a:off x="7962075" y="4829100"/>
            <a:ext cx="1108038" cy="314399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16484"/>
            <a:ext cx="749974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Функциональные возможности системы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642988"/>
            <a:ext cx="838200" cy="5179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33816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Абитуриент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644676"/>
            <a:ext cx="1905000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Подача документов онлайн, отслеживание статуса заявления, согласие/отказ на зачисление, скачивание приказов.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1642988"/>
            <a:ext cx="838200" cy="5179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298" y="233816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Ректор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78298" y="2644676"/>
            <a:ext cx="190507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Приёмная комиссия: фильтрация заявлений, массовая обработка, издание приказов с загрузкой PDF.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1642988"/>
            <a:ext cx="838200" cy="5179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0553" y="233816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Администратор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0553" y="2644676"/>
            <a:ext cx="190507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Управление факультетами, специальностями, пользователями (смена ролей), FAQ через CRUD-интерфейс.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1642988"/>
            <a:ext cx="838200" cy="5179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2338164"/>
            <a:ext cx="190507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Студент / Преподаватель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42807" y="2866132"/>
            <a:ext cx="1905074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Личный кабинет с приказами, информацией о специальности. Заглушки для расписания и оценок — резерв развития.</a:t>
            </a:r>
            <a:endParaRPr lang="en-US" sz="110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EEFE4C3-C412-4781-A8C9-AA10C080B3ED}"/>
              </a:ext>
            </a:extLst>
          </p:cNvPr>
          <p:cNvSpPr/>
          <p:nvPr/>
        </p:nvSpPr>
        <p:spPr>
          <a:xfrm>
            <a:off x="7962075" y="4829100"/>
            <a:ext cx="1108038" cy="314399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219" y="353020"/>
            <a:ext cx="4899124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Интерфейс: ключевые экраны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82" y="1006301"/>
            <a:ext cx="1572295" cy="157229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7899" y="1006301"/>
            <a:ext cx="1572295" cy="1572295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5815" y="1006301"/>
            <a:ext cx="1572295" cy="1572295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3732" y="1006301"/>
            <a:ext cx="1572295" cy="1572295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1649" y="1006301"/>
            <a:ext cx="1572295" cy="1572295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982" y="2674218"/>
            <a:ext cx="1572295" cy="1572295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445219" y="4437683"/>
            <a:ext cx="8253487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Страница поступления → список специальностей → форма подачи документов → личный кабинет абитуриента → приёмная комиссия ректора → административная панель.</a:t>
            </a:r>
            <a:endParaRPr lang="en-US" sz="90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F30174B-2B0D-42AA-90A9-7B8DEED2D035}"/>
              </a:ext>
            </a:extLst>
          </p:cNvPr>
          <p:cNvSpPr/>
          <p:nvPr/>
        </p:nvSpPr>
        <p:spPr>
          <a:xfrm>
            <a:off x="7962075" y="4829100"/>
            <a:ext cx="1108038" cy="314399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AE8F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336" y="98003"/>
            <a:ext cx="3298329" cy="49474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349" y="400273"/>
            <a:ext cx="4800302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От v1 к v2: эволюция системы</a:t>
            </a:r>
            <a:endParaRPr lang="en-US" sz="2550" dirty="0"/>
          </a:p>
        </p:txBody>
      </p:sp>
      <p:sp>
        <p:nvSpPr>
          <p:cNvPr id="5" name="Shape 2"/>
          <p:cNvSpPr/>
          <p:nvPr/>
        </p:nvSpPr>
        <p:spPr>
          <a:xfrm>
            <a:off x="457349" y="1397719"/>
            <a:ext cx="4800302" cy="2280493"/>
          </a:xfrm>
          <a:prstGeom prst="roundRect">
            <a:avLst>
              <a:gd name="adj" fmla="val 860"/>
            </a:avLst>
          </a:prstGeom>
          <a:solidFill>
            <a:srgbClr val="EAE8F3"/>
          </a:solidFill>
          <a:ln/>
        </p:spPr>
      </p:sp>
      <p:sp>
        <p:nvSpPr>
          <p:cNvPr id="6" name="Shape 3"/>
          <p:cNvSpPr/>
          <p:nvPr/>
        </p:nvSpPr>
        <p:spPr>
          <a:xfrm>
            <a:off x="457349" y="1397719"/>
            <a:ext cx="2400151" cy="1341090"/>
          </a:xfrm>
          <a:prstGeom prst="roundRect">
            <a:avLst>
              <a:gd name="adj" fmla="val 1462"/>
            </a:avLst>
          </a:prstGeom>
          <a:solidFill>
            <a:srgbClr val="EAE8F3"/>
          </a:solidFill>
          <a:ln/>
        </p:spPr>
      </p:sp>
      <p:sp>
        <p:nvSpPr>
          <p:cNvPr id="7" name="Text 4"/>
          <p:cNvSpPr/>
          <p:nvPr/>
        </p:nvSpPr>
        <p:spPr>
          <a:xfrm>
            <a:off x="588020" y="1528390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Версия 1 (MVP)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88020" y="1804764"/>
            <a:ext cx="2138809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Регистрация, аутентификация, подача документов, просмотр специальностей. Минималистичный интерфейс.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857500" y="1397719"/>
            <a:ext cx="2400151" cy="1341090"/>
          </a:xfrm>
          <a:prstGeom prst="rect">
            <a:avLst/>
          </a:prstGeom>
          <a:solidFill>
            <a:srgbClr val="EAE8F3"/>
          </a:solidFill>
          <a:ln/>
        </p:spPr>
      </p:sp>
      <p:sp>
        <p:nvSpPr>
          <p:cNvPr id="10" name="Shape 7"/>
          <p:cNvSpPr/>
          <p:nvPr/>
        </p:nvSpPr>
        <p:spPr>
          <a:xfrm>
            <a:off x="2857500" y="1397719"/>
            <a:ext cx="14288" cy="1341090"/>
          </a:xfrm>
          <a:prstGeom prst="roundRect">
            <a:avLst>
              <a:gd name="adj" fmla="val 137204"/>
            </a:avLst>
          </a:prstGeom>
          <a:solidFill>
            <a:srgbClr val="D0CED9"/>
          </a:solidFill>
          <a:ln/>
        </p:spPr>
      </p:sp>
      <p:sp>
        <p:nvSpPr>
          <p:cNvPr id="11" name="Text 8"/>
          <p:cNvSpPr/>
          <p:nvPr/>
        </p:nvSpPr>
        <p:spPr>
          <a:xfrm>
            <a:off x="2988171" y="1528390"/>
            <a:ext cx="196944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Выявленные недостатки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988171" y="1804764"/>
            <a:ext cx="2138809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Нет ролевой модели, админ-панели, обработки заявлений, FAQ, загрузки аватаров, механизма согласия.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349" y="2738810"/>
            <a:ext cx="4800302" cy="939403"/>
          </a:xfrm>
          <a:prstGeom prst="rect">
            <a:avLst/>
          </a:prstGeom>
          <a:solidFill>
            <a:srgbClr val="EAE8F3"/>
          </a:solidFill>
          <a:ln/>
        </p:spPr>
      </p:sp>
      <p:sp>
        <p:nvSpPr>
          <p:cNvPr id="14" name="Shape 11"/>
          <p:cNvSpPr/>
          <p:nvPr/>
        </p:nvSpPr>
        <p:spPr>
          <a:xfrm>
            <a:off x="457349" y="2738810"/>
            <a:ext cx="4800302" cy="14288"/>
          </a:xfrm>
          <a:prstGeom prst="roundRect">
            <a:avLst>
              <a:gd name="adj" fmla="val 137204"/>
            </a:avLst>
          </a:prstGeom>
          <a:solidFill>
            <a:srgbClr val="D0CED9"/>
          </a:solidFill>
          <a:ln/>
        </p:spPr>
      </p:sp>
      <p:sp>
        <p:nvSpPr>
          <p:cNvPr id="15" name="Text 12"/>
          <p:cNvSpPr/>
          <p:nvPr/>
        </p:nvSpPr>
        <p:spPr>
          <a:xfrm>
            <a:off x="588020" y="2869481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Версия 2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88020" y="3145854"/>
            <a:ext cx="4538960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 ролей, приёмная комиссия, админ-панель, FAQ, AJAX-аватары, API, улучшенный UI с анимациями.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349" y="3813721"/>
            <a:ext cx="4800302" cy="929432"/>
          </a:xfrm>
          <a:prstGeom prst="roundRect">
            <a:avLst>
              <a:gd name="adj" fmla="val 2109"/>
            </a:avLst>
          </a:prstGeom>
          <a:solidFill>
            <a:srgbClr val="B6FCB8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020" y="4010323"/>
            <a:ext cx="163339" cy="13067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82030" y="3966865"/>
            <a:ext cx="4244950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Переход выполнен с сохранением обратной совместимости БД через </a:t>
            </a:r>
            <a:r>
              <a:rPr lang="en-US" sz="1000" dirty="0">
                <a:solidFill>
                  <a:srgbClr val="000000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</a:t>
            </a: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Репозиторий на GitHub: ветки </a:t>
            </a:r>
            <a:r>
              <a:rPr lang="en-US" sz="1000" dirty="0">
                <a:solidFill>
                  <a:srgbClr val="000000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000" dirty="0">
                <a:solidFill>
                  <a:srgbClr val="000000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develop</a:t>
            </a: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000" dirty="0">
                <a:solidFill>
                  <a:srgbClr val="000000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feature/*</a:t>
            </a: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132" y="391195"/>
            <a:ext cx="6858967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Сопровождение и обслуживание системы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4132" y="1049982"/>
            <a:ext cx="232104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Резервное копирование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34132" y="1365870"/>
            <a:ext cx="3986585" cy="1638449"/>
          </a:xfrm>
          <a:prstGeom prst="roundRect">
            <a:avLst>
              <a:gd name="adj" fmla="val 113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894" y="1370633"/>
            <a:ext cx="3977060" cy="32578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62942" y="1440507"/>
            <a:ext cx="219536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Компонент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553816" y="1440507"/>
            <a:ext cx="219536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Периодичность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8894" y="1696417"/>
            <a:ext cx="3977060" cy="32578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62942" y="1766292"/>
            <a:ext cx="219536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База данных SQLite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553816" y="1766292"/>
            <a:ext cx="219536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Ежедневно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894" y="2022202"/>
            <a:ext cx="3977060" cy="32578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62942" y="2092077"/>
            <a:ext cx="219536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Документы абитуриентов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53816" y="2092077"/>
            <a:ext cx="219536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Ежедневно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8894" y="2347987"/>
            <a:ext cx="3977060" cy="32578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62942" y="2417862"/>
            <a:ext cx="219536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Приказы о зачислении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53816" y="2417862"/>
            <a:ext cx="219536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Ежедневно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8894" y="2673772"/>
            <a:ext cx="3977060" cy="32578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62942" y="2743646"/>
            <a:ext cx="219536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Аватары пользователей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53816" y="2743646"/>
            <a:ext cx="219536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Еженедельно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28046" y="1049982"/>
            <a:ext cx="207488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Порядок обновления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28046" y="1365870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Libre Baskerville" panose="020B060402020202020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950" dirty="0">
              <a:latin typeface="Libre Baskerville" panose="020B0604020202020204" charset="0"/>
            </a:endParaRPr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046" y="1562323"/>
            <a:ext cx="3986585" cy="1428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728046" y="1652885"/>
            <a:ext cx="398658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Создать резервную копию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28046" y="2040434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Libre Baskerville" panose="020B060402020202020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950" dirty="0">
              <a:latin typeface="Libre Baskerville" panose="020B0604020202020204" charset="0"/>
            </a:endParaRPr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046" y="2224534"/>
            <a:ext cx="3986585" cy="1428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728046" y="2327449"/>
            <a:ext cx="398658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origin main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4728046" y="2714997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Libre Baskerville" panose="020B060402020202020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950" dirty="0">
              <a:latin typeface="Libre Baskerville" panose="020B0604020202020204" charset="0"/>
            </a:endParaRPr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046" y="2886670"/>
            <a:ext cx="3986585" cy="1428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728046" y="3002012"/>
            <a:ext cx="398658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Обновить зависимости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4728046" y="3389561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Libre Baskerville" panose="020B060402020202020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950" dirty="0">
              <a:latin typeface="Libre Baskerville" panose="020B0604020202020204" charset="0"/>
            </a:endParaRPr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046" y="3548881"/>
            <a:ext cx="3986585" cy="1428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4728046" y="3676576"/>
            <a:ext cx="398658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Выполнить миграции БД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4728046" y="4064124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Libre Baskerville" panose="020B060402020202020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950" dirty="0">
              <a:latin typeface="Libre Baskerville" panose="020B0604020202020204" charset="0"/>
            </a:endParaRPr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046" y="4211017"/>
            <a:ext cx="3986585" cy="1428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4728046" y="4351139"/>
            <a:ext cx="398658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Перезапустить приложение</a:t>
            </a:r>
            <a:endParaRPr lang="en-US" sz="950" dirty="0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D17ADF8E-0107-4274-BB82-904BBA4456A0}"/>
              </a:ext>
            </a:extLst>
          </p:cNvPr>
          <p:cNvSpPr/>
          <p:nvPr/>
        </p:nvSpPr>
        <p:spPr>
          <a:xfrm>
            <a:off x="7962075" y="4829100"/>
            <a:ext cx="1108038" cy="314399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AE8F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10" y="102915"/>
            <a:ext cx="3291780" cy="49376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09640" y="501625"/>
            <a:ext cx="5154662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Заключение и перспективы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909640" y="1130275"/>
            <a:ext cx="4753719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Цель достигнута: разработано работоспособное веб-приложение, готовое к внедрению в приёмную комиссию ИжГУ. Все задачи решены — от анализа предметной области до реализации ролевой модели и полного цикла сопровождения.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61135" y="2149450"/>
            <a:ext cx="205978" cy="20597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55902" y="2145209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До 6 месяцев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355902" y="2439516"/>
            <a:ext cx="4307458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Автоматическое резервное копирование, тестирование через pytest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61135" y="3142431"/>
            <a:ext cx="205978" cy="20597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355902" y="3138190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До 1 года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355902" y="3432497"/>
            <a:ext cx="430745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Миграция на PostgreSQL, Docker-контейнеризация, REST API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61135" y="3919091"/>
            <a:ext cx="205978" cy="20597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355902" y="3914849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До 2 лет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355902" y="4209157"/>
            <a:ext cx="4307458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Мобильное приложение, двухфакторная аутентификация, электронный журнал успеваемости</a:t>
            </a:r>
            <a:endParaRPr lang="en-US" sz="105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FCD8121-6A0F-4AD7-87A2-3CBD0825E0DD}"/>
              </a:ext>
            </a:extLst>
          </p:cNvPr>
          <p:cNvSpPr/>
          <p:nvPr/>
        </p:nvSpPr>
        <p:spPr>
          <a:xfrm>
            <a:off x="7962075" y="4829100"/>
            <a:ext cx="1108038" cy="314399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593</Words>
  <Application>Microsoft Office PowerPoint</Application>
  <PresentationFormat>Экран (16:9)</PresentationFormat>
  <Paragraphs>98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Libre Baskerville</vt:lpstr>
      <vt:lpstr>Arial</vt:lpstr>
      <vt:lpstr>Consolas</vt:lpstr>
      <vt:lpstr>Calibri</vt:lpstr>
      <vt:lpstr>Open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duhgu</dc:creator>
  <cp:lastModifiedBy>duhguhg564@gmail.com</cp:lastModifiedBy>
  <cp:revision>3</cp:revision>
  <dcterms:created xsi:type="dcterms:W3CDTF">2026-05-29T07:51:29Z</dcterms:created>
  <dcterms:modified xsi:type="dcterms:W3CDTF">2026-05-29T08:01:04Z</dcterms:modified>
</cp:coreProperties>
</file>